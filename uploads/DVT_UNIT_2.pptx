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C6BD6-3F13-435B-90AC-1BEBA136F24A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986D-906D-429B-AA5A-C58E290308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1"/>
            <a:ext cx="7772400" cy="761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Unit-2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371600"/>
            <a:ext cx="7162800" cy="4343400"/>
          </a:xfrm>
        </p:spPr>
        <p:txBody>
          <a:bodyPr>
            <a:normAutofit lnSpcReduction="10000"/>
          </a:bodyPr>
          <a:lstStyle/>
          <a:p>
            <a:pPr algn="l"/>
            <a:r>
              <a:rPr lang="en-GB" b="1" dirty="0">
                <a:solidFill>
                  <a:schemeClr val="tx1"/>
                </a:solidFill>
              </a:rPr>
              <a:t>Foundations for Visualization: </a:t>
            </a:r>
            <a:endParaRPr lang="en-GB" b="1" dirty="0" smtClean="0">
              <a:solidFill>
                <a:schemeClr val="tx1"/>
              </a:solidFill>
            </a:endParaRPr>
          </a:p>
          <a:p>
            <a:pPr algn="l"/>
            <a:endParaRPr lang="en-GB" b="1" dirty="0" smtClean="0">
              <a:solidFill>
                <a:schemeClr val="tx1"/>
              </a:solidFill>
            </a:endParaRPr>
          </a:p>
          <a:p>
            <a:pPr algn="l"/>
            <a:r>
              <a:rPr lang="en-GB" dirty="0" smtClean="0">
                <a:solidFill>
                  <a:schemeClr val="tx1"/>
                </a:solidFill>
              </a:rPr>
              <a:t>Visualization </a:t>
            </a:r>
            <a:r>
              <a:rPr lang="en-GB" dirty="0">
                <a:solidFill>
                  <a:schemeClr val="tx1"/>
                </a:solidFill>
              </a:rPr>
              <a:t>stages - </a:t>
            </a:r>
            <a:r>
              <a:rPr lang="en-GB" dirty="0" err="1">
                <a:solidFill>
                  <a:schemeClr val="tx1"/>
                </a:solidFill>
              </a:rPr>
              <a:t>Semiology</a:t>
            </a:r>
            <a:r>
              <a:rPr lang="en-GB" dirty="0">
                <a:solidFill>
                  <a:schemeClr val="tx1"/>
                </a:solidFill>
              </a:rPr>
              <a:t> of Graphical Symbols - The Eight Visual Variables - Historical Perspective - Taxonomies - Experimental Semiotics based on Perception Gibson‘s Affordance theory – A Model of Perceptual Processing.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1. Visualization Stages</a:t>
            </a:r>
          </a:p>
          <a:p>
            <a:pPr algn="just"/>
            <a:r>
              <a:rPr lang="en-US" dirty="0"/>
              <a:t>Data visualization is an iterative process, and each stage helps to make the data clearer and easier to interpret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1.1 Data Collection: </a:t>
            </a:r>
            <a:r>
              <a:rPr lang="en-US" dirty="0"/>
              <a:t>The first step involves gathering raw data from various sources. Data can be quantitative (numerical), qualitative (categorical), or spatial (maps).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algn="just"/>
            <a:r>
              <a:rPr lang="en-US" b="1" dirty="0"/>
              <a:t>Example: </a:t>
            </a:r>
            <a:r>
              <a:rPr lang="en-US" dirty="0"/>
              <a:t>In healthcare, data may be collected from patient records, surveys, or sensor data (e.g., wearable fitness trackers).</a:t>
            </a:r>
          </a:p>
          <a:p>
            <a:pPr algn="just">
              <a:buNone/>
            </a:pPr>
            <a:r>
              <a:rPr lang="en-US" b="1" dirty="0" smtClean="0"/>
              <a:t>1.2 Data </a:t>
            </a:r>
            <a:r>
              <a:rPr lang="en-US" b="1" dirty="0"/>
              <a:t>Preprocessing</a:t>
            </a:r>
            <a:r>
              <a:rPr lang="en-US" b="1" dirty="0" smtClean="0"/>
              <a:t>: </a:t>
            </a:r>
            <a:r>
              <a:rPr lang="en-US" dirty="0"/>
              <a:t>Raw data is cleaned and prepared for visualization. This step includes handling missing values, filtering out outliers, normalizing data, or transforming formats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Example: </a:t>
            </a:r>
            <a:r>
              <a:rPr lang="en-US" dirty="0"/>
              <a:t>In finance, stock price data may need to be normalized for different time periods (e.g., monthly or quarterly).</a:t>
            </a:r>
          </a:p>
          <a:p>
            <a:pPr algn="just"/>
            <a:endParaRPr lang="en-US" b="1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/>
              <a:t>1.3 Visualization </a:t>
            </a:r>
            <a:r>
              <a:rPr lang="en-US" b="1" dirty="0"/>
              <a:t>Design</a:t>
            </a:r>
            <a:r>
              <a:rPr lang="en-US" b="1" dirty="0" smtClean="0"/>
              <a:t>: </a:t>
            </a:r>
            <a:r>
              <a:rPr lang="en-US" dirty="0"/>
              <a:t>This stage involves selecting the best chart type (bar, line, pie, scatter plot, etc.) based on the data and the message intended to be communicated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/>
              <a:t>Example:</a:t>
            </a:r>
            <a:r>
              <a:rPr lang="en-US" dirty="0"/>
              <a:t> A market researcher might use a pie chart to show market share distribution and a line chart to show trends over time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1.4 Visualization Encoding: </a:t>
            </a:r>
            <a:r>
              <a:rPr lang="en-US" dirty="0" smtClean="0"/>
              <a:t>Data </a:t>
            </a:r>
            <a:r>
              <a:rPr lang="en-US" dirty="0"/>
              <a:t>is encoded into visual elements like position, color, size, shape, or orientation to make the data comprehensible.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Example: </a:t>
            </a:r>
            <a:r>
              <a:rPr lang="en-US" dirty="0"/>
              <a:t>In a temperature </a:t>
            </a:r>
            <a:r>
              <a:rPr lang="en-US" dirty="0" err="1"/>
              <a:t>heatmap</a:t>
            </a:r>
            <a:r>
              <a:rPr lang="en-US" dirty="0"/>
              <a:t>, the data is encoded by color where darker colors represent higher temperatures.</a:t>
            </a:r>
          </a:p>
          <a:p>
            <a:pPr algn="just">
              <a:buNone/>
            </a:pPr>
            <a:r>
              <a:rPr lang="en-US" b="1" dirty="0" smtClean="0"/>
              <a:t>1.5 Interaction: </a:t>
            </a:r>
            <a:r>
              <a:rPr lang="en-US" dirty="0" smtClean="0"/>
              <a:t>Allowing </a:t>
            </a:r>
            <a:r>
              <a:rPr lang="en-US" dirty="0"/>
              <a:t>users to explore the data by interacting with the visualization through features like zooming, filtering, or clicking.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Google Maps allows users to zoom in/out and filter maps by transportation, traffic, or satellite views.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1.6 Interpretation </a:t>
            </a:r>
            <a:r>
              <a:rPr lang="en-US" b="1" dirty="0"/>
              <a:t>and Insight Generation:</a:t>
            </a:r>
          </a:p>
          <a:p>
            <a:pPr algn="just">
              <a:buNone/>
            </a:pPr>
            <a:r>
              <a:rPr lang="en-US" dirty="0" smtClean="0"/>
              <a:t>	The </a:t>
            </a:r>
            <a:r>
              <a:rPr lang="en-US" dirty="0"/>
              <a:t>final stage where viewers analyze the </a:t>
            </a:r>
            <a:r>
              <a:rPr lang="en-US" dirty="0" smtClean="0"/>
              <a:t>visual data</a:t>
            </a:r>
            <a:r>
              <a:rPr lang="en-US" dirty="0"/>
              <a:t>, derive insights, and make informed decisions.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An executive reviewing a sales dashboard may notice a decline in sales in certain regions and decide to investigate further.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</a:t>
            </a:r>
            <a:r>
              <a:rPr lang="en-US" b="1" dirty="0" err="1"/>
              <a:t>Semiology</a:t>
            </a:r>
            <a:r>
              <a:rPr lang="en-US" b="1" dirty="0"/>
              <a:t> of Graphical Symbols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err="1"/>
              <a:t>Semiology</a:t>
            </a:r>
            <a:r>
              <a:rPr lang="en-US" dirty="0"/>
              <a:t> examines how symbols convey meaning. In data visualization, understanding symbols is essential to ensure the audience correctly interprets the data.</a:t>
            </a:r>
          </a:p>
          <a:p>
            <a:pPr algn="just">
              <a:buNone/>
            </a:pPr>
            <a:r>
              <a:rPr lang="en-US" b="1" dirty="0"/>
              <a:t>Graphical </a:t>
            </a:r>
            <a:r>
              <a:rPr lang="en-US" b="1" dirty="0" smtClean="0"/>
              <a:t>Symbols: </a:t>
            </a:r>
            <a:r>
              <a:rPr lang="en-US" dirty="0" smtClean="0"/>
              <a:t>Visual </a:t>
            </a:r>
            <a:r>
              <a:rPr lang="en-US" dirty="0"/>
              <a:t>representations of data points, like dots, lines, and bars. The effectiveness depends on how clearly these symbols convey information.</a:t>
            </a:r>
          </a:p>
          <a:p>
            <a:pPr algn="just"/>
            <a:r>
              <a:rPr lang="en-US" dirty="0"/>
              <a:t> </a:t>
            </a:r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traffic congestion maps, red lines symbolize heavy traffic, while green lines symbolize free-flowing traffic.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Denotation vs. Connotation</a:t>
            </a:r>
            <a:r>
              <a:rPr lang="en-US" b="1" dirty="0" smtClean="0"/>
              <a:t>: </a:t>
            </a:r>
            <a:r>
              <a:rPr lang="en-US" dirty="0" smtClean="0"/>
              <a:t>Denotation </a:t>
            </a:r>
            <a:r>
              <a:rPr lang="en-US" dirty="0"/>
              <a:t>refers to the literal meaning of symbols, while connotation involves the cultural or emotional associations.</a:t>
            </a:r>
          </a:p>
          <a:p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The color red may denote danger (e.g., a red warning light) but also connote urgency or attention in a dashboard interface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/>
              <a:t>Iconic Signs: </a:t>
            </a:r>
            <a:r>
              <a:rPr lang="en-US" dirty="0"/>
              <a:t>Symbols that resemble the object they represent.</a:t>
            </a:r>
          </a:p>
          <a:p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 picture of a car on a navigation map.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b="1" dirty="0"/>
              <a:t>Indexical Signs: </a:t>
            </a:r>
            <a:r>
              <a:rPr lang="en-US" dirty="0"/>
              <a:t>Signs that have a direct connection to the object.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 thermometer reading indicates temperature.</a:t>
            </a:r>
          </a:p>
          <a:p>
            <a:pPr algn="just">
              <a:buNone/>
            </a:pPr>
            <a:r>
              <a:rPr lang="en-US" b="1" dirty="0"/>
              <a:t>Symbolic Signs: </a:t>
            </a:r>
            <a:r>
              <a:rPr lang="en-US" dirty="0"/>
              <a:t>Arbitrary symbols learned through cultural or contextual associations.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The red cross symbol for emergency medical services.</a:t>
            </a:r>
          </a:p>
          <a:p>
            <a:pPr algn="just">
              <a:buNone/>
            </a:pPr>
            <a:r>
              <a:rPr lang="en-US" b="1" dirty="0"/>
              <a:t>Visual </a:t>
            </a:r>
            <a:r>
              <a:rPr lang="en-US" b="1" dirty="0" smtClean="0"/>
              <a:t>Grammar: </a:t>
            </a:r>
            <a:r>
              <a:rPr lang="en-US" dirty="0" smtClean="0"/>
              <a:t>Refers </a:t>
            </a:r>
            <a:r>
              <a:rPr lang="en-US" dirty="0"/>
              <a:t>to the rules governing how symbols and elements should be arranged to convey meaning clearly.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line graph, the x-axis often represents time, and the y-axis represents the quantity, following a standard convention.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3. The Eight Visual Variables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algn="just"/>
            <a:r>
              <a:rPr lang="en-US" dirty="0"/>
              <a:t>These variables are key to ensuring that a data visualization effectively communicates information. Each one manipulates different aspects of the graphic.</a:t>
            </a:r>
          </a:p>
          <a:p>
            <a:pPr algn="just">
              <a:buNone/>
            </a:pPr>
            <a:r>
              <a:rPr lang="en-US" b="1" dirty="0" smtClean="0"/>
              <a:t>3.1 Size: </a:t>
            </a:r>
            <a:r>
              <a:rPr lang="en-US" dirty="0"/>
              <a:t>Represents magnitude, importance, or volume. Larger elements attract more attention.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 bar chart comparing sales volumes where larger bars represent higher sales.</a:t>
            </a:r>
          </a:p>
          <a:p>
            <a:pPr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 smtClean="0"/>
              <a:t>3.2 Shape: </a:t>
            </a:r>
            <a:r>
              <a:rPr lang="en-US" dirty="0" smtClean="0"/>
              <a:t>Different </a:t>
            </a:r>
            <a:r>
              <a:rPr lang="en-US" dirty="0"/>
              <a:t>shapes can be used to distinguish categories or types of data.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 scatter plot showing customer data may use circles for one group and squares for another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3.3 Orientation: </a:t>
            </a:r>
            <a:r>
              <a:rPr lang="en-US" dirty="0" smtClean="0"/>
              <a:t>The </a:t>
            </a:r>
            <a:r>
              <a:rPr lang="en-US" dirty="0"/>
              <a:t>angle or rotation of an element. This can represent directionality or movement.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Arrows showing the flow of data in a network diagram or the tilt of a bar in a directionality chart.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b="1" dirty="0" smtClean="0"/>
              <a:t>3.4 Color: </a:t>
            </a:r>
            <a:r>
              <a:rPr lang="en-US" dirty="0" smtClean="0"/>
              <a:t>Used </a:t>
            </a:r>
            <a:r>
              <a:rPr lang="en-US" dirty="0"/>
              <a:t>to differentiate, categorize, or represent intensity. Color perception is often culturally coded.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</a:t>
            </a:r>
            <a:r>
              <a:rPr lang="en-US" dirty="0" err="1"/>
              <a:t>heatmap</a:t>
            </a:r>
            <a:r>
              <a:rPr lang="en-US" dirty="0"/>
              <a:t> of crime data, areas with more incidents might be displayed in red, while less affected areas are green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b="1" dirty="0" smtClean="0"/>
              <a:t>3.5 Texture: </a:t>
            </a:r>
            <a:r>
              <a:rPr lang="en-US" dirty="0" smtClean="0"/>
              <a:t>A </a:t>
            </a:r>
            <a:r>
              <a:rPr lang="en-US" dirty="0"/>
              <a:t>visual pattern used to differentiate between data elements, especially in more complex visualizations.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 map of population density where densely populated areas have a striped texture, and less populated areas have solid color.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b="1" dirty="0" smtClean="0"/>
              <a:t>3.6 </a:t>
            </a:r>
            <a:r>
              <a:rPr lang="en-US" b="1" dirty="0"/>
              <a:t>Value (Brightness</a:t>
            </a:r>
            <a:r>
              <a:rPr lang="en-US" b="1" dirty="0" smtClean="0"/>
              <a:t>): </a:t>
            </a:r>
            <a:r>
              <a:rPr lang="en-US" dirty="0" smtClean="0"/>
              <a:t>The </a:t>
            </a:r>
            <a:r>
              <a:rPr lang="en-US" dirty="0"/>
              <a:t>lightness or darkness of an element, representing intensity or magnitude.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</a:t>
            </a:r>
            <a:r>
              <a:rPr lang="en-US" dirty="0" err="1"/>
              <a:t>choropleth</a:t>
            </a:r>
            <a:r>
              <a:rPr lang="en-US" dirty="0"/>
              <a:t> map showing income distribution, darker shades might indicate higher income.</a:t>
            </a:r>
          </a:p>
          <a:p>
            <a:pPr algn="just">
              <a:buNone/>
            </a:pPr>
            <a:r>
              <a:rPr lang="en-US" b="1" dirty="0" smtClean="0"/>
              <a:t>3.7 Spacing: </a:t>
            </a:r>
            <a:r>
              <a:rPr lang="en-US" dirty="0" smtClean="0"/>
              <a:t>The </a:t>
            </a:r>
            <a:r>
              <a:rPr lang="en-US" dirty="0"/>
              <a:t>distance between elements. It can show relationships between data points.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timeline chart, different time intervals are spaced proportionally to represent time duration.</a:t>
            </a:r>
          </a:p>
          <a:p>
            <a:pPr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/>
          <a:lstStyle/>
          <a:p>
            <a:pPr algn="just">
              <a:buNone/>
            </a:pPr>
            <a:r>
              <a:rPr lang="en-US" b="1" dirty="0" smtClean="0"/>
              <a:t>3.8 Connection: </a:t>
            </a:r>
            <a:r>
              <a:rPr lang="en-US" dirty="0" smtClean="0"/>
              <a:t>Lines </a:t>
            </a:r>
            <a:r>
              <a:rPr lang="en-US" dirty="0"/>
              <a:t>or curves connecting visual elements. Used to show relationships or flows.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network graph, nodes representing people or organizations are connected by lines to show social relationships.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4. Historical Perspective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Data visualization has evolved from simple charts to highly sophisticated interactive systems over centuries.</a:t>
            </a:r>
          </a:p>
          <a:p>
            <a:pPr algn="just">
              <a:buNone/>
            </a:pPr>
            <a:r>
              <a:rPr lang="en-US" b="1" dirty="0" smtClean="0"/>
              <a:t>Pre-1600s</a:t>
            </a:r>
            <a:r>
              <a:rPr lang="en-US" b="1" dirty="0"/>
              <a:t>: Early Visual Representations</a:t>
            </a:r>
          </a:p>
          <a:p>
            <a:pPr algn="just"/>
            <a:r>
              <a:rPr lang="en-US" dirty="0" smtClean="0"/>
              <a:t>Ancient </a:t>
            </a:r>
            <a:r>
              <a:rPr lang="en-US" dirty="0"/>
              <a:t>Times</a:t>
            </a:r>
            <a:r>
              <a:rPr lang="en-US" dirty="0" smtClean="0"/>
              <a:t>:</a:t>
            </a:r>
            <a:endParaRPr lang="en-US" dirty="0"/>
          </a:p>
          <a:p>
            <a:pPr algn="just"/>
            <a:r>
              <a:rPr lang="en-US" dirty="0"/>
              <a:t> </a:t>
            </a:r>
            <a:r>
              <a:rPr lang="en-US" dirty="0" smtClean="0"/>
              <a:t>Use </a:t>
            </a:r>
            <a:r>
              <a:rPr lang="en-US" dirty="0"/>
              <a:t>of cave paintings, tally marks, and simple maps to represent information visually.</a:t>
            </a:r>
          </a:p>
          <a:p>
            <a:pPr algn="just"/>
            <a:r>
              <a:rPr lang="en-US" dirty="0"/>
              <a:t>  </a:t>
            </a:r>
            <a:r>
              <a:rPr lang="en-US" dirty="0" smtClean="0"/>
              <a:t>Early </a:t>
            </a:r>
            <a:r>
              <a:rPr lang="en-US" dirty="0"/>
              <a:t>maps depicted geographical data for navigation and territorial claims.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b="1" dirty="0"/>
              <a:t>1600s – 1700s: Foundations of Modern </a:t>
            </a:r>
            <a:r>
              <a:rPr lang="en-US" b="1" dirty="0" smtClean="0"/>
              <a:t>Graphs</a:t>
            </a:r>
          </a:p>
          <a:p>
            <a:pPr algn="just">
              <a:buNone/>
            </a:pPr>
            <a:r>
              <a:rPr lang="en-US" b="1" dirty="0" smtClean="0"/>
              <a:t>1600s:</a:t>
            </a:r>
            <a:endParaRPr lang="en-US" b="1" dirty="0"/>
          </a:p>
          <a:p>
            <a:pPr algn="just"/>
            <a:r>
              <a:rPr lang="en-US" dirty="0"/>
              <a:t> </a:t>
            </a:r>
            <a:r>
              <a:rPr lang="en-US" dirty="0" smtClean="0"/>
              <a:t>Development </a:t>
            </a:r>
            <a:r>
              <a:rPr lang="en-US" dirty="0"/>
              <a:t>of basic charts and diagrams, often hand-drawn for scientific and astronomical data.</a:t>
            </a:r>
          </a:p>
          <a:p>
            <a:pPr algn="just">
              <a:buNone/>
            </a:pPr>
            <a:r>
              <a:rPr lang="en-US" b="1" dirty="0" smtClean="0"/>
              <a:t>1700s:</a:t>
            </a:r>
            <a:endParaRPr lang="en-US" b="1" dirty="0"/>
          </a:p>
          <a:p>
            <a:pPr algn="just"/>
            <a:r>
              <a:rPr lang="en-US" dirty="0"/>
              <a:t> </a:t>
            </a:r>
            <a:r>
              <a:rPr lang="en-US" dirty="0" smtClean="0"/>
              <a:t>Scientific </a:t>
            </a:r>
            <a:r>
              <a:rPr lang="en-US" dirty="0"/>
              <a:t>revolution leads to systematic use of visual aids in scientific research.</a:t>
            </a:r>
          </a:p>
          <a:p>
            <a:pPr algn="just"/>
            <a:r>
              <a:rPr lang="en-US" b="1" dirty="0" smtClean="0"/>
              <a:t>William </a:t>
            </a:r>
            <a:r>
              <a:rPr lang="en-US" b="1" dirty="0" err="1"/>
              <a:t>Playfair</a:t>
            </a:r>
            <a:r>
              <a:rPr lang="en-US" b="1" dirty="0"/>
              <a:t> (1759–1823</a:t>
            </a:r>
            <a:r>
              <a:rPr lang="en-US" b="1" dirty="0" smtClean="0"/>
              <a:t>):</a:t>
            </a:r>
            <a:endParaRPr lang="en-US" b="1" dirty="0"/>
          </a:p>
          <a:p>
            <a:pPr algn="just"/>
            <a:r>
              <a:rPr lang="en-US" dirty="0"/>
              <a:t> </a:t>
            </a:r>
            <a:r>
              <a:rPr lang="en-US" dirty="0" smtClean="0"/>
              <a:t>Credited </a:t>
            </a:r>
            <a:r>
              <a:rPr lang="en-US" dirty="0"/>
              <a:t>as the “</a:t>
            </a:r>
            <a:r>
              <a:rPr lang="en-US" b="1" dirty="0"/>
              <a:t>father of statistical graphics</a:t>
            </a:r>
            <a:r>
              <a:rPr lang="en-US" dirty="0"/>
              <a:t>.”</a:t>
            </a:r>
          </a:p>
          <a:p>
            <a:pPr lvl="1" algn="just"/>
            <a:r>
              <a:rPr lang="en-US" dirty="0" smtClean="0"/>
              <a:t>Invented </a:t>
            </a:r>
            <a:r>
              <a:rPr lang="en-US" dirty="0"/>
              <a:t>the </a:t>
            </a:r>
            <a:r>
              <a:rPr lang="en-US" dirty="0" smtClean="0"/>
              <a:t>line </a:t>
            </a:r>
            <a:r>
              <a:rPr lang="en-US" dirty="0"/>
              <a:t>graph (1786</a:t>
            </a:r>
            <a:r>
              <a:rPr lang="en-US" dirty="0" smtClean="0"/>
              <a:t>), bar chart, </a:t>
            </a:r>
            <a:r>
              <a:rPr lang="en-US" dirty="0"/>
              <a:t>and </a:t>
            </a:r>
            <a:r>
              <a:rPr lang="en-US" dirty="0" smtClean="0"/>
              <a:t>pie </a:t>
            </a:r>
            <a:r>
              <a:rPr lang="en-US" dirty="0"/>
              <a:t>chart (1801</a:t>
            </a:r>
            <a:r>
              <a:rPr lang="en-US" dirty="0" smtClean="0"/>
              <a:t>) </a:t>
            </a:r>
            <a:r>
              <a:rPr lang="en-US" dirty="0"/>
              <a:t>to visualize economic data like trade balances and exports.</a:t>
            </a:r>
          </a:p>
          <a:p>
            <a:pPr algn="just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b="1" dirty="0"/>
              <a:t>Early 1800s: Expansion and Popularization</a:t>
            </a:r>
          </a:p>
          <a:p>
            <a:pPr algn="just">
              <a:buNone/>
            </a:pPr>
            <a:r>
              <a:rPr lang="en-US" b="1" dirty="0" smtClean="0"/>
              <a:t>1820s–1850s:</a:t>
            </a:r>
            <a:endParaRPr lang="en-US" b="1" dirty="0"/>
          </a:p>
          <a:p>
            <a:pPr algn="just"/>
            <a:r>
              <a:rPr lang="en-US" dirty="0" err="1" smtClean="0"/>
              <a:t>Playfair’s</a:t>
            </a:r>
            <a:r>
              <a:rPr lang="en-US" dirty="0" smtClean="0"/>
              <a:t> </a:t>
            </a:r>
            <a:r>
              <a:rPr lang="en-US" dirty="0"/>
              <a:t>visual methods gain wider adoption in economics and social sciences.</a:t>
            </a:r>
          </a:p>
          <a:p>
            <a:pPr algn="just"/>
            <a:r>
              <a:rPr lang="en-US" dirty="0" smtClean="0"/>
              <a:t>Use </a:t>
            </a:r>
            <a:r>
              <a:rPr lang="en-US" dirty="0"/>
              <a:t>of charts to represent time-series data and categorical data becomes common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b="1" dirty="0" smtClean="0"/>
              <a:t>Mid-1800s</a:t>
            </a:r>
            <a:r>
              <a:rPr lang="en-US" b="1" dirty="0"/>
              <a:t>: Social Reform and Visual Impact</a:t>
            </a:r>
          </a:p>
          <a:p>
            <a:pPr algn="just">
              <a:buNone/>
            </a:pPr>
            <a:r>
              <a:rPr lang="en-US" b="1" dirty="0" smtClean="0"/>
              <a:t>1850s:</a:t>
            </a:r>
            <a:endParaRPr lang="en-US" b="1" dirty="0"/>
          </a:p>
          <a:p>
            <a:pPr algn="just">
              <a:buNone/>
            </a:pPr>
            <a:r>
              <a:rPr lang="en-US" dirty="0"/>
              <a:t> </a:t>
            </a:r>
            <a:r>
              <a:rPr lang="en-US" b="1" dirty="0" smtClean="0"/>
              <a:t>Florence </a:t>
            </a:r>
            <a:r>
              <a:rPr lang="en-US" b="1" dirty="0"/>
              <a:t>Nightingale </a:t>
            </a:r>
            <a:r>
              <a:rPr lang="en-US" dirty="0"/>
              <a:t>(1820–1910</a:t>
            </a:r>
            <a:r>
              <a:rPr lang="en-US" dirty="0" smtClean="0"/>
              <a:t>):</a:t>
            </a:r>
            <a:endParaRPr lang="en-US" dirty="0"/>
          </a:p>
          <a:p>
            <a:pPr algn="just"/>
            <a:r>
              <a:rPr lang="en-US" dirty="0" smtClean="0"/>
              <a:t>Used </a:t>
            </a:r>
            <a:r>
              <a:rPr lang="en-US" dirty="0"/>
              <a:t>the </a:t>
            </a:r>
            <a:r>
              <a:rPr lang="en-US" dirty="0" smtClean="0"/>
              <a:t>coxcomb </a:t>
            </a:r>
            <a:r>
              <a:rPr lang="en-US" dirty="0"/>
              <a:t>(polar area) </a:t>
            </a:r>
            <a:r>
              <a:rPr lang="en-US" dirty="0" smtClean="0"/>
              <a:t>chart </a:t>
            </a:r>
            <a:r>
              <a:rPr lang="en-US" dirty="0"/>
              <a:t>to illustrate causes of mortality during the Crimean War (1854–1856).</a:t>
            </a:r>
          </a:p>
          <a:p>
            <a:pPr algn="just"/>
            <a:r>
              <a:rPr lang="en-US" dirty="0" smtClean="0"/>
              <a:t>Her </a:t>
            </a:r>
            <a:r>
              <a:rPr lang="en-US" dirty="0"/>
              <a:t>visualizations influenced reforms in military healthcare.</a:t>
            </a:r>
          </a:p>
          <a:p>
            <a:pPr algn="just">
              <a:buNone/>
            </a:pPr>
            <a:r>
              <a:rPr lang="en-US" b="1" dirty="0" smtClean="0"/>
              <a:t>Charles </a:t>
            </a:r>
            <a:r>
              <a:rPr lang="en-US" b="1" dirty="0"/>
              <a:t>Joseph </a:t>
            </a:r>
            <a:r>
              <a:rPr lang="en-US" b="1" dirty="0" err="1"/>
              <a:t>Minard</a:t>
            </a:r>
            <a:r>
              <a:rPr lang="en-US" b="1" dirty="0"/>
              <a:t> </a:t>
            </a:r>
            <a:r>
              <a:rPr lang="en-US" dirty="0"/>
              <a:t>(1869</a:t>
            </a:r>
            <a:r>
              <a:rPr lang="en-US" dirty="0" smtClean="0"/>
              <a:t>):</a:t>
            </a:r>
            <a:endParaRPr lang="en-US" dirty="0"/>
          </a:p>
          <a:p>
            <a:pPr algn="just"/>
            <a:r>
              <a:rPr lang="en-US" dirty="0" smtClean="0"/>
              <a:t>Created </a:t>
            </a:r>
            <a:r>
              <a:rPr lang="en-US" dirty="0"/>
              <a:t>the famous </a:t>
            </a:r>
            <a:r>
              <a:rPr lang="en-US" dirty="0" smtClean="0"/>
              <a:t>flow map of </a:t>
            </a:r>
            <a:r>
              <a:rPr lang="en-US" dirty="0"/>
              <a:t>Napoleon’s 1812 Russian campaign, visualizing army size, direction, temperature, and geography in a single graphic.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b="1" dirty="0"/>
              <a:t>Late 1800s – Early 1900s: Statistical Graphics and Theory</a:t>
            </a:r>
          </a:p>
          <a:p>
            <a:pPr algn="just"/>
            <a:r>
              <a:rPr lang="en-US" dirty="0" smtClean="0"/>
              <a:t>Development </a:t>
            </a:r>
            <a:r>
              <a:rPr lang="en-US" dirty="0"/>
              <a:t>of more complex statistical graphics including scatter plots, histograms, and correlation diagrams.</a:t>
            </a:r>
          </a:p>
          <a:p>
            <a:pPr algn="just"/>
            <a:r>
              <a:rPr lang="en-US" dirty="0" smtClean="0"/>
              <a:t>Use </a:t>
            </a:r>
            <a:r>
              <a:rPr lang="en-US" dirty="0"/>
              <a:t>of visualization in social statistics and demographic studies expanded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b="1" dirty="0" smtClean="0"/>
              <a:t>Mid-1900s</a:t>
            </a:r>
            <a:r>
              <a:rPr lang="en-US" b="1" dirty="0"/>
              <a:t>: Computing Era Begins</a:t>
            </a:r>
          </a:p>
          <a:p>
            <a:pPr algn="just"/>
            <a:r>
              <a:rPr lang="en-US" dirty="0" smtClean="0"/>
              <a:t>Introduction </a:t>
            </a:r>
            <a:r>
              <a:rPr lang="en-US" dirty="0"/>
              <a:t>of computers enables more complex and precise visualizations.</a:t>
            </a:r>
          </a:p>
          <a:p>
            <a:pPr algn="just"/>
            <a:r>
              <a:rPr lang="en-US" dirty="0" smtClean="0"/>
              <a:t>Early </a:t>
            </a:r>
            <a:r>
              <a:rPr lang="en-US" dirty="0"/>
              <a:t>computer-generated plots and charts emerge in scientific and engineering fields.</a:t>
            </a:r>
          </a:p>
          <a:p>
            <a:pPr algn="just"/>
            <a:r>
              <a:rPr lang="en-US" dirty="0" smtClean="0"/>
              <a:t>Development </a:t>
            </a:r>
            <a:r>
              <a:rPr lang="en-US" dirty="0"/>
              <a:t>of statistical software in the 1960s and 1970s accelerates data visualization capabilities.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b="1" dirty="0"/>
              <a:t>1980s – 1990s: Rise of Interactive </a:t>
            </a:r>
            <a:r>
              <a:rPr lang="en-US" b="1" dirty="0" smtClean="0"/>
              <a:t>Visualizations</a:t>
            </a:r>
            <a:endParaRPr lang="en-US" dirty="0"/>
          </a:p>
          <a:p>
            <a:pPr algn="just"/>
            <a:r>
              <a:rPr lang="en-US" dirty="0" smtClean="0"/>
              <a:t>Personal </a:t>
            </a:r>
            <a:r>
              <a:rPr lang="en-US" dirty="0"/>
              <a:t>computers and graphical user interfaces allow widespread use of visualization tools.</a:t>
            </a:r>
          </a:p>
          <a:p>
            <a:pPr algn="just"/>
            <a:r>
              <a:rPr lang="en-US" dirty="0" smtClean="0"/>
              <a:t>Software </a:t>
            </a:r>
            <a:r>
              <a:rPr lang="en-US" dirty="0"/>
              <a:t>like Microsoft Excel popularizes basic charts for business and education.</a:t>
            </a:r>
          </a:p>
          <a:p>
            <a:pPr algn="just"/>
            <a:r>
              <a:rPr lang="en-US" dirty="0" smtClean="0"/>
              <a:t>Emergence </a:t>
            </a:r>
            <a:r>
              <a:rPr lang="en-US" dirty="0"/>
              <a:t>of specialized visualization software such as Tableau and MATLAB.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b="1" dirty="0" smtClean="0"/>
              <a:t>2000s </a:t>
            </a:r>
            <a:r>
              <a:rPr lang="en-US" b="1" dirty="0"/>
              <a:t>– Present: Big Data and Interactive Visual </a:t>
            </a:r>
            <a:r>
              <a:rPr lang="en-US" b="1" dirty="0" smtClean="0"/>
              <a:t>Analytics</a:t>
            </a:r>
            <a:r>
              <a:rPr lang="en-US" dirty="0"/>
              <a:t> </a:t>
            </a:r>
          </a:p>
          <a:p>
            <a:pPr algn="just"/>
            <a:r>
              <a:rPr lang="en-US" dirty="0" smtClean="0"/>
              <a:t>Explosion </a:t>
            </a:r>
            <a:r>
              <a:rPr lang="en-US" dirty="0"/>
              <a:t>of data availability from internet, sensors, and digital platforms.</a:t>
            </a:r>
          </a:p>
          <a:p>
            <a:pPr algn="just"/>
            <a:r>
              <a:rPr lang="en-US" dirty="0" smtClean="0"/>
              <a:t>Visualization </a:t>
            </a:r>
            <a:r>
              <a:rPr lang="en-US" dirty="0"/>
              <a:t>shifts to handling </a:t>
            </a:r>
            <a:r>
              <a:rPr lang="en-US" dirty="0" smtClean="0"/>
              <a:t>large</a:t>
            </a:r>
            <a:r>
              <a:rPr lang="en-US" dirty="0"/>
              <a:t>, complex </a:t>
            </a:r>
            <a:r>
              <a:rPr lang="en-US" dirty="0" smtClean="0"/>
              <a:t>datasets </a:t>
            </a:r>
            <a:r>
              <a:rPr lang="en-US" dirty="0"/>
              <a:t>with interactive dashboards and real-time analytics.</a:t>
            </a:r>
          </a:p>
          <a:p>
            <a:pPr algn="just"/>
            <a:r>
              <a:rPr lang="en-US" dirty="0" smtClean="0"/>
              <a:t>Use </a:t>
            </a:r>
            <a:r>
              <a:rPr lang="en-US" dirty="0"/>
              <a:t>of web-based and mobile visualizations become widespread.</a:t>
            </a:r>
          </a:p>
          <a:p>
            <a:pPr algn="just"/>
            <a:r>
              <a:rPr lang="en-US" dirty="0" smtClean="0"/>
              <a:t>Advances </a:t>
            </a:r>
            <a:r>
              <a:rPr lang="en-US" dirty="0"/>
              <a:t>in machine learning and AI contribute to automated and enhanced visual analytics.</a:t>
            </a:r>
          </a:p>
          <a:p>
            <a:pPr algn="just"/>
            <a:r>
              <a:rPr lang="en-US" dirty="0" smtClean="0"/>
              <a:t>Data </a:t>
            </a:r>
            <a:r>
              <a:rPr lang="en-US" dirty="0"/>
              <a:t>journalism and storytelling using visualizations become mainstream in media.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5. Taxonomies of Visualization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en-US" dirty="0"/>
              <a:t>Taxonomy refers to categorizing visualization types </a:t>
            </a:r>
            <a:r>
              <a:rPr lang="en-US" dirty="0" smtClean="0"/>
              <a:t>based on </a:t>
            </a:r>
            <a:r>
              <a:rPr lang="en-US" dirty="0"/>
              <a:t>their purpose or function. These categorizations help users choose the right type of visualization for their specific needs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b="1" dirty="0" smtClean="0"/>
              <a:t>Exploratory </a:t>
            </a:r>
            <a:r>
              <a:rPr lang="en-US" b="1" dirty="0"/>
              <a:t>vs. Explanatory Visualization:</a:t>
            </a:r>
          </a:p>
          <a:p>
            <a:pPr algn="just"/>
            <a:r>
              <a:rPr lang="en-US" dirty="0" smtClean="0"/>
              <a:t>Exploratory</a:t>
            </a:r>
            <a:r>
              <a:rPr lang="en-US" dirty="0"/>
              <a:t>: Used for discovering patterns or insights in the data.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dirty="0"/>
              <a:t>: A business analyst using an interactive scatter plot to discover correlations between marketing spend and sales.</a:t>
            </a:r>
          </a:p>
          <a:p>
            <a:pPr algn="just"/>
            <a:r>
              <a:rPr lang="en-US" dirty="0" smtClean="0"/>
              <a:t>Explanatory</a:t>
            </a:r>
            <a:r>
              <a:rPr lang="en-US" dirty="0"/>
              <a:t>: Used to communicate a specific insight to an audience.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dirty="0"/>
              <a:t>: A news article using a pie chart to explain election results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b="1" dirty="0" smtClean="0"/>
              <a:t>Data Types:</a:t>
            </a:r>
          </a:p>
          <a:p>
            <a:pPr algn="just"/>
            <a:r>
              <a:rPr lang="en-US" b="1" dirty="0" smtClean="0"/>
              <a:t>Quantitative vs. Qualitative:</a:t>
            </a:r>
          </a:p>
          <a:p>
            <a:pPr algn="just"/>
            <a:r>
              <a:rPr lang="en-US" dirty="0" smtClean="0"/>
              <a:t>Quantitative Data Visualization: Deals with numerical values.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dirty="0" smtClean="0"/>
              <a:t>: A line graph showing stock price trends over time.</a:t>
            </a:r>
          </a:p>
          <a:p>
            <a:pPr algn="just"/>
            <a:r>
              <a:rPr lang="en-US" dirty="0" smtClean="0"/>
              <a:t>Qualitative Data Visualization: Deals with categories or labels.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dirty="0" smtClean="0"/>
              <a:t>: A bar chart showing the market share of different </a:t>
            </a:r>
            <a:r>
              <a:rPr lang="en-US" dirty="0" err="1" smtClean="0"/>
              <a:t>smartphone</a:t>
            </a:r>
            <a:r>
              <a:rPr lang="en-US" dirty="0" smtClean="0"/>
              <a:t> brands.</a:t>
            </a:r>
          </a:p>
          <a:p>
            <a:pPr algn="just"/>
            <a:endParaRPr lang="en-US" dirty="0" smtClean="0"/>
          </a:p>
          <a:p>
            <a:pPr algn="just">
              <a:buNone/>
            </a:pPr>
            <a:r>
              <a:rPr lang="en-US" b="1" dirty="0" smtClean="0"/>
              <a:t>Static vs. Dynamic:</a:t>
            </a:r>
          </a:p>
          <a:p>
            <a:pPr algn="just"/>
            <a:r>
              <a:rPr lang="en-US" dirty="0" smtClean="0"/>
              <a:t>Static: Unchanging visualizations, useful for printed reports or presentations.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dirty="0" smtClean="0"/>
              <a:t>: A printed bar chart in a company’s annual report.</a:t>
            </a:r>
          </a:p>
          <a:p>
            <a:pPr algn="just"/>
            <a:r>
              <a:rPr lang="en-US" dirty="0" smtClean="0"/>
              <a:t>Dynamic/Interactive: Allows user interaction to explore the data.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dirty="0" smtClean="0"/>
              <a:t>: Tableau dashboards that allow users to drill down into regional sales data.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 </a:t>
            </a:r>
            <a:r>
              <a:rPr lang="en-US" b="1" dirty="0"/>
              <a:t>Experimental Semiotics Based on Perception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This focuses on how people perceive visual symbols and how semiotics can inform the design of more effective visualizations.</a:t>
            </a:r>
          </a:p>
          <a:p>
            <a:pPr algn="just">
              <a:buNone/>
            </a:pPr>
            <a:r>
              <a:rPr lang="en-US" b="1" dirty="0" smtClean="0"/>
              <a:t>Visual </a:t>
            </a:r>
            <a:r>
              <a:rPr lang="en-US" b="1" dirty="0"/>
              <a:t>Perception and Cognitive </a:t>
            </a:r>
            <a:r>
              <a:rPr lang="en-US" b="1" dirty="0" smtClean="0"/>
              <a:t>Load: </a:t>
            </a:r>
            <a:r>
              <a:rPr lang="en-US" dirty="0" smtClean="0"/>
              <a:t>Cognitive </a:t>
            </a:r>
            <a:r>
              <a:rPr lang="en-US" dirty="0"/>
              <a:t>load refers to the mental effort required to interpret a visualization. A cluttered graph can overwhelm users.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A pie chart with too many categories might cause confusion, while a simple bar chart with fewer categories is easier to interpret.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algn="just">
              <a:buNone/>
            </a:pPr>
            <a:r>
              <a:rPr lang="en-US" b="1" dirty="0"/>
              <a:t>Gestalt </a:t>
            </a:r>
            <a:r>
              <a:rPr lang="en-US" b="1" dirty="0" smtClean="0"/>
              <a:t>Principles: </a:t>
            </a:r>
            <a:r>
              <a:rPr lang="en-US" dirty="0" smtClean="0"/>
              <a:t>Gestalt </a:t>
            </a:r>
            <a:r>
              <a:rPr lang="en-US" dirty="0"/>
              <a:t>psychology suggests that people perceive visual elements as organized wholes, not just the sum of parts.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network diagram, elements grouped closely together are perceived as related or belonging to the same category.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7. Gibson’s Affordance Theory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Affordances refer to the potential actions that an object or design "affords" based on its properties. In visualization, this refers to how visual elements suggest interaction.</a:t>
            </a:r>
          </a:p>
          <a:p>
            <a:pPr algn="just">
              <a:buNone/>
            </a:pPr>
            <a:r>
              <a:rPr lang="en-US" b="1" dirty="0" smtClean="0"/>
              <a:t>Affordances </a:t>
            </a:r>
            <a:r>
              <a:rPr lang="en-US" b="1" dirty="0"/>
              <a:t>in </a:t>
            </a:r>
            <a:r>
              <a:rPr lang="en-US" b="1" dirty="0" smtClean="0"/>
              <a:t>Visualization: </a:t>
            </a:r>
            <a:r>
              <a:rPr lang="en-US" dirty="0" smtClean="0"/>
              <a:t>Elements </a:t>
            </a:r>
            <a:r>
              <a:rPr lang="en-US" dirty="0"/>
              <a:t>in a visualization should suggest how users can interact with them.</a:t>
            </a:r>
          </a:p>
          <a:p>
            <a:pPr algn="just"/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In a clickable map, highlighted areas afford clicking to reveal more detailed data (e.g., population statistics).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Perceptual </a:t>
            </a:r>
            <a:r>
              <a:rPr lang="en-US" b="1" dirty="0" smtClean="0"/>
              <a:t>Affordances: </a:t>
            </a:r>
            <a:r>
              <a:rPr lang="en-US" dirty="0" smtClean="0"/>
              <a:t>Users </a:t>
            </a:r>
            <a:r>
              <a:rPr lang="en-US" dirty="0"/>
              <a:t>interpret visual cues to understand how to interact with the data.</a:t>
            </a:r>
          </a:p>
          <a:p>
            <a:r>
              <a:rPr lang="en-US" b="1" dirty="0" smtClean="0"/>
              <a:t>Example</a:t>
            </a:r>
            <a:r>
              <a:rPr lang="en-US" b="1" dirty="0"/>
              <a:t>: </a:t>
            </a:r>
            <a:r>
              <a:rPr lang="en-US" dirty="0"/>
              <a:t>Hovering over a data point in a chart to reveal additional information or a tooltip.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A Model of Perceptual Processing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en-US" dirty="0"/>
              <a:t>This model describes how humans interpret and make sense of visual data.</a:t>
            </a:r>
          </a:p>
          <a:p>
            <a:pPr algn="just">
              <a:buNone/>
            </a:pPr>
            <a:r>
              <a:rPr lang="en-US" b="1" dirty="0" smtClean="0"/>
              <a:t>Sensory Input: </a:t>
            </a:r>
            <a:r>
              <a:rPr lang="en-US" dirty="0" smtClean="0"/>
              <a:t>Data </a:t>
            </a:r>
            <a:r>
              <a:rPr lang="en-US" dirty="0"/>
              <a:t>is presented visually.</a:t>
            </a:r>
          </a:p>
          <a:p>
            <a:pPr algn="just"/>
            <a:r>
              <a:rPr lang="en-US" dirty="0" smtClean="0"/>
              <a:t>Example</a:t>
            </a:r>
            <a:r>
              <a:rPr lang="en-US" dirty="0"/>
              <a:t>: A scatter plot appears on the </a:t>
            </a:r>
            <a:r>
              <a:rPr lang="en-US" dirty="0" smtClean="0"/>
              <a:t>screen.</a:t>
            </a:r>
          </a:p>
          <a:p>
            <a:pPr algn="just">
              <a:buNone/>
            </a:pPr>
            <a:r>
              <a:rPr lang="en-US" b="1" dirty="0" smtClean="0"/>
              <a:t>Early Processing: </a:t>
            </a:r>
            <a:r>
              <a:rPr lang="en-US" dirty="0" smtClean="0"/>
              <a:t>Basic </a:t>
            </a:r>
            <a:r>
              <a:rPr lang="en-US" dirty="0"/>
              <a:t>visual features (color, size, shape) are processed by the brain.</a:t>
            </a:r>
          </a:p>
          <a:p>
            <a:pPr algn="just"/>
            <a:r>
              <a:rPr lang="en-US" dirty="0" smtClean="0"/>
              <a:t>Example</a:t>
            </a:r>
            <a:r>
              <a:rPr lang="en-US" dirty="0"/>
              <a:t>: Identifying trends based on color (red = high, blue = low).</a:t>
            </a:r>
          </a:p>
          <a:p>
            <a:pPr algn="just">
              <a:buNone/>
            </a:pPr>
            <a:r>
              <a:rPr lang="en-US" b="1" dirty="0" smtClean="0"/>
              <a:t>Feature Integration: </a:t>
            </a:r>
            <a:r>
              <a:rPr lang="en-US" dirty="0" smtClean="0"/>
              <a:t>Elements </a:t>
            </a:r>
            <a:r>
              <a:rPr lang="en-US" dirty="0"/>
              <a:t>are grouped together based on visual cues.</a:t>
            </a:r>
          </a:p>
          <a:p>
            <a:pPr algn="just"/>
            <a:r>
              <a:rPr lang="en-US" dirty="0" smtClean="0"/>
              <a:t>Example</a:t>
            </a:r>
            <a:r>
              <a:rPr lang="en-US" dirty="0"/>
              <a:t>: Recognizing clusters of points in a scatter plot representing different customer segments.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 smtClean="0"/>
              <a:t>Higher-Level Interpretation: </a:t>
            </a:r>
            <a:r>
              <a:rPr lang="en-US" dirty="0" smtClean="0"/>
              <a:t>The brain combines features to derive meaning or insights.</a:t>
            </a:r>
          </a:p>
          <a:p>
            <a:pPr algn="just"/>
            <a:r>
              <a:rPr lang="en-US" dirty="0" smtClean="0"/>
              <a:t>Example: Noticing that a particular group of points in the scatter plot shows higher spending patterns.</a:t>
            </a:r>
          </a:p>
          <a:p>
            <a:pPr algn="just">
              <a:buNone/>
            </a:pPr>
            <a:r>
              <a:rPr lang="en-US" b="1" dirty="0" smtClean="0"/>
              <a:t>Action: </a:t>
            </a:r>
            <a:r>
              <a:rPr lang="en-US" dirty="0" smtClean="0"/>
              <a:t>The viewer takes action based on the interpretation, like filtering data.</a:t>
            </a:r>
          </a:p>
          <a:p>
            <a:pPr algn="just"/>
            <a:r>
              <a:rPr lang="en-US" dirty="0" smtClean="0"/>
              <a:t>Example: A user may click on a region of the map to zoom into more granular data.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1718</Words>
  <Application>Microsoft Office PowerPoint</Application>
  <PresentationFormat>On-screen Show (4:3)</PresentationFormat>
  <Paragraphs>141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Unit-2</vt:lpstr>
      <vt:lpstr>Slide 2</vt:lpstr>
      <vt:lpstr>Slide 3</vt:lpstr>
      <vt:lpstr>Slide 4</vt:lpstr>
      <vt:lpstr>Slide 5</vt:lpstr>
      <vt:lpstr>Slide 6</vt:lpstr>
      <vt:lpstr>2. Semiology of Graphical Symbols </vt:lpstr>
      <vt:lpstr>Slide 8</vt:lpstr>
      <vt:lpstr>Slide 9</vt:lpstr>
      <vt:lpstr>3. The Eight Visual Variables </vt:lpstr>
      <vt:lpstr>Slide 11</vt:lpstr>
      <vt:lpstr>Slide 12</vt:lpstr>
      <vt:lpstr>Slide 13</vt:lpstr>
      <vt:lpstr>Slide 14</vt:lpstr>
      <vt:lpstr>4. Historical Perspective </vt:lpstr>
      <vt:lpstr>Slide 16</vt:lpstr>
      <vt:lpstr>Slide 17</vt:lpstr>
      <vt:lpstr>Slide 18</vt:lpstr>
      <vt:lpstr>Slide 19</vt:lpstr>
      <vt:lpstr>5. Taxonomies of Visualization </vt:lpstr>
      <vt:lpstr>Slide 21</vt:lpstr>
      <vt:lpstr>6. Experimental Semiotics Based on Perception </vt:lpstr>
      <vt:lpstr>Slide 23</vt:lpstr>
      <vt:lpstr>7. Gibson’s Affordance Theory </vt:lpstr>
      <vt:lpstr>Slide 25</vt:lpstr>
      <vt:lpstr>8. A Model of Perceptual Processing 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SNIST</dc:creator>
  <cp:lastModifiedBy>SNIST</cp:lastModifiedBy>
  <cp:revision>73</cp:revision>
  <dcterms:created xsi:type="dcterms:W3CDTF">2025-08-04T04:40:44Z</dcterms:created>
  <dcterms:modified xsi:type="dcterms:W3CDTF">2025-08-04T06:43:52Z</dcterms:modified>
</cp:coreProperties>
</file>