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6" r:id="rId3"/>
    <p:sldId id="257" r:id="rId4"/>
    <p:sldId id="267" r:id="rId5"/>
    <p:sldId id="258" r:id="rId6"/>
    <p:sldId id="268" r:id="rId7"/>
    <p:sldId id="259" r:id="rId8"/>
    <p:sldId id="260" r:id="rId9"/>
    <p:sldId id="269" r:id="rId10"/>
    <p:sldId id="261" r:id="rId11"/>
    <p:sldId id="270" r:id="rId12"/>
    <p:sldId id="262" r:id="rId13"/>
    <p:sldId id="271" r:id="rId14"/>
    <p:sldId id="263" r:id="rId15"/>
    <p:sldId id="272" r:id="rId16"/>
    <p:sldId id="264" r:id="rId17"/>
    <p:sldId id="273" r:id="rId18"/>
    <p:sldId id="265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="" xmlns:p14="http://schemas.microsoft.com/office/powerpoint/2010/main" val="0"/>
    </p:ext>
    <p:ext uri="{D31A062A-798A-4329-ABDD-BBA856620510}">
      <p14:defaultImageDpi xmlns=""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3" autoAdjust="0"/>
    <p:restoredTop sz="94660"/>
  </p:normalViewPr>
  <p:slideViewPr>
    <p:cSldViewPr snapToGrid="0" snapToObjects="1">
      <p:cViewPr varScale="1">
        <p:scale>
          <a:sx n="104" d="100"/>
          <a:sy n="104" d="100"/>
        </p:scale>
        <p:origin x="-162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7/24/2025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=""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868807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DATA VISUALIZATION TECHNIQUES</a:t>
            </a:r>
            <a:r>
              <a:rPr lang="en-US" dirty="0" smtClean="0"/>
              <a:t/>
            </a:r>
            <a:br>
              <a:rPr lang="en-US" dirty="0" smtClean="0"/>
            </a:br>
            <a:endParaRPr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b="1" dirty="0" smtClean="0"/>
              <a:t>UNIT 1: Introduction and Data Foundation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Basics - Relationship between Visualization and Other Fields - The Visualization Process - Pseudo code Conventions - The Scatter plot. Data Foundation - Types of Data - Structure within and between Records - Data Pre-processing - Data Sets.</a:t>
            </a:r>
            <a:endParaRPr lang="en-US" dirty="0" smtClean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Data Visualization?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dirty="0" smtClean="0"/>
              <a:t>A graphical representation of information and data.</a:t>
            </a:r>
          </a:p>
          <a:p>
            <a:pPr algn="just"/>
            <a:r>
              <a:rPr lang="en-US" dirty="0" smtClean="0"/>
              <a:t>Uses visual elements like charts, graphs, and maps to communicate data patterns and trends effectively.</a:t>
            </a:r>
          </a:p>
          <a:p>
            <a:pPr algn="just"/>
            <a:r>
              <a:rPr lang="en-US" dirty="0" smtClean="0"/>
              <a:t>Helps in analyzing complex data and supports decision-making.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Importance of Data Visualization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Converts raw data into easily understandable visuals.</a:t>
            </a:r>
          </a:p>
          <a:p>
            <a:r>
              <a:rPr lang="en-US" dirty="0" smtClean="0"/>
              <a:t>Enhances comprehension of large and complex datasets.</a:t>
            </a:r>
          </a:p>
          <a:p>
            <a:r>
              <a:rPr lang="en-US" dirty="0" smtClean="0"/>
              <a:t>Aids in identifying correlations, trends, and outliers.</a:t>
            </a:r>
          </a:p>
          <a:p>
            <a:r>
              <a:rPr lang="en-US" dirty="0" smtClean="0"/>
              <a:t>Useful across industries: healthcare, finance, marketing, and more.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 smtClean="0"/>
              <a:t>Relationship between Visualization and Other Fields</a:t>
            </a:r>
            <a:endParaRPr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>
              <a:buNone/>
            </a:pPr>
            <a:r>
              <a:rPr lang="en-US" b="1" dirty="0" smtClean="0"/>
              <a:t>a. Statistics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* Provides techniques to summarize and interpret data.</a:t>
            </a:r>
          </a:p>
          <a:p>
            <a:pPr algn="just">
              <a:buNone/>
            </a:pPr>
            <a:r>
              <a:rPr lang="en-US" dirty="0" smtClean="0"/>
              <a:t>* Basis for creating visual elements like histograms, </a:t>
            </a:r>
            <a:r>
              <a:rPr lang="en-US" dirty="0" err="1" smtClean="0"/>
              <a:t>boxplots</a:t>
            </a:r>
            <a:r>
              <a:rPr lang="en-US" dirty="0" smtClean="0"/>
              <a:t>, etc.</a:t>
            </a:r>
          </a:p>
          <a:p>
            <a:pPr algn="just">
              <a:buNone/>
            </a:pPr>
            <a:r>
              <a:rPr lang="en-US" b="1" dirty="0" smtClean="0"/>
              <a:t>b. Computer Graphics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* Offers algorithms and tools for rendering visuals.</a:t>
            </a:r>
          </a:p>
          <a:p>
            <a:pPr algn="just">
              <a:buNone/>
            </a:pPr>
            <a:r>
              <a:rPr lang="en-US" dirty="0" smtClean="0"/>
              <a:t>* Used in high-performance and interactive visualization systems.</a:t>
            </a:r>
          </a:p>
          <a:p>
            <a:pPr>
              <a:buNone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"/>
            <a:ext cx="8229600" cy="5989003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c. Human-Computer Interaction (HCI)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* Ensures visualizations are user-friendly and intuitive.</a:t>
            </a:r>
          </a:p>
          <a:p>
            <a:pPr algn="just">
              <a:buNone/>
            </a:pPr>
            <a:r>
              <a:rPr lang="en-US" dirty="0" smtClean="0"/>
              <a:t>* Considers how users perceive and interact with visual data.</a:t>
            </a:r>
          </a:p>
          <a:p>
            <a:pPr algn="just">
              <a:buNone/>
            </a:pPr>
            <a:r>
              <a:rPr lang="en-US" b="1" dirty="0" smtClean="0"/>
              <a:t>d. Cognitive Science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* Informs how humans perceive visual information.</a:t>
            </a:r>
          </a:p>
          <a:p>
            <a:pPr algn="just">
              <a:buNone/>
            </a:pPr>
            <a:r>
              <a:rPr lang="en-US" dirty="0" smtClean="0"/>
              <a:t>* Helps design effective, perceptually efficient visualizations.</a:t>
            </a:r>
          </a:p>
          <a:p>
            <a:pPr algn="just">
              <a:buNone/>
            </a:pPr>
            <a:r>
              <a:rPr lang="en-US" b="1" dirty="0" smtClean="0"/>
              <a:t>e. Machine Learning &amp; Data Mining</a:t>
            </a:r>
            <a:endParaRPr lang="en-US" dirty="0" smtClean="0"/>
          </a:p>
          <a:p>
            <a:pPr algn="just">
              <a:buNone/>
            </a:pPr>
            <a:r>
              <a:rPr lang="en-US" dirty="0" smtClean="0"/>
              <a:t>* Generates patterns and features that can be visualized.</a:t>
            </a:r>
          </a:p>
          <a:p>
            <a:pPr algn="just">
              <a:buNone/>
            </a:pPr>
            <a:r>
              <a:rPr lang="en-US" dirty="0" smtClean="0"/>
              <a:t>* Visualization aids in model interpretation and validation.</a:t>
            </a:r>
          </a:p>
          <a:p>
            <a:pPr algn="just"/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Visualization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b="1"/>
              <a:t>1. Problem </a:t>
            </a:r>
            <a:r>
              <a:rPr b="1" smtClean="0"/>
              <a:t>Statement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*Define goals and user requirements.</a:t>
            </a:r>
          </a:p>
          <a:p>
            <a:pPr>
              <a:buNone/>
            </a:pPr>
            <a:r>
              <a:rPr b="1" smtClean="0"/>
              <a:t>2</a:t>
            </a:r>
            <a:r>
              <a:rPr b="1"/>
              <a:t>. Data </a:t>
            </a:r>
            <a:r>
              <a:rPr b="1" smtClean="0"/>
              <a:t>Acquisition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*Collect raw data from various sources (databases, APIs, sensors).</a:t>
            </a:r>
          </a:p>
          <a:p>
            <a:pPr>
              <a:buNone/>
            </a:pPr>
            <a:r>
              <a:rPr b="1" smtClean="0"/>
              <a:t>3</a:t>
            </a:r>
            <a:r>
              <a:rPr b="1"/>
              <a:t>. Data </a:t>
            </a:r>
            <a:r>
              <a:rPr b="1" smtClean="0"/>
              <a:t>Processing</a:t>
            </a:r>
            <a:r>
              <a:rPr lang="en-US" b="1" dirty="0" smtClean="0"/>
              <a:t> &amp; Transformation</a:t>
            </a:r>
          </a:p>
          <a:p>
            <a:pPr>
              <a:buNone/>
            </a:pPr>
            <a:r>
              <a:rPr lang="en-US" dirty="0" smtClean="0"/>
              <a:t>*Clean, integrate, and format data for visualization.</a:t>
            </a:r>
          </a:p>
          <a:p>
            <a:pPr>
              <a:buNone/>
            </a:pPr>
            <a:r>
              <a:rPr b="1" smtClean="0"/>
              <a:t>4</a:t>
            </a:r>
            <a:r>
              <a:rPr b="1"/>
              <a:t>. Mapping to Visual </a:t>
            </a:r>
            <a:r>
              <a:rPr b="1" smtClean="0"/>
              <a:t>Structures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*Select appropriate visual encoding (position, shape, color).</a:t>
            </a:r>
          </a:p>
          <a:p>
            <a:pPr>
              <a:buNone/>
            </a:pPr>
            <a:r>
              <a:rPr b="1" smtClean="0"/>
              <a:t>5</a:t>
            </a:r>
            <a:r>
              <a:rPr b="1"/>
              <a:t>. </a:t>
            </a:r>
            <a:r>
              <a:rPr b="1" smtClean="0"/>
              <a:t>Rendering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* Generate final visuals using software or tools (e.g., Tableau, D3.js).</a:t>
            </a:r>
            <a:endParaRPr/>
          </a:p>
          <a:p>
            <a:pPr>
              <a:buNone/>
            </a:pPr>
            <a:r>
              <a:rPr b="1"/>
              <a:t>6. </a:t>
            </a:r>
            <a:r>
              <a:rPr b="1" smtClean="0"/>
              <a:t>Interaction</a:t>
            </a:r>
            <a:endParaRPr lang="en-US" b="1" dirty="0" smtClean="0"/>
          </a:p>
          <a:p>
            <a:pPr>
              <a:buNone/>
            </a:pPr>
            <a:r>
              <a:rPr lang="en-US" dirty="0" smtClean="0"/>
              <a:t>* Enable user interaction like zooming, filtering, and tooltips.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Pseudo Code Conventions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b="1" dirty="0" smtClean="0"/>
              <a:t>What is Pseudo Code?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An informal high-level description of a computer program or algorithm.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Focuses on logic rather than syntax.</a:t>
            </a:r>
          </a:p>
          <a:p>
            <a:r>
              <a:rPr lang="en-US" b="1" dirty="0" smtClean="0"/>
              <a:t>Conventions: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Use clear, concise language.</a:t>
            </a:r>
          </a:p>
          <a:p>
            <a:pPr>
              <a:buNone/>
            </a:pPr>
            <a:r>
              <a:rPr lang="en-US" dirty="0" smtClean="0"/>
              <a:t>* Use indentation for structure.</a:t>
            </a:r>
          </a:p>
          <a:p>
            <a:pPr>
              <a:buNone/>
            </a:pPr>
            <a:r>
              <a:rPr lang="en-US" dirty="0" smtClean="0"/>
              <a:t>* Control structures: `IF`, `ELSE`, `FOR`, `WHILE`, etc.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Example: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  FOR each data point in dataset</a:t>
            </a:r>
          </a:p>
          <a:p>
            <a:pPr>
              <a:buNone/>
            </a:pPr>
            <a:r>
              <a:rPr lang="en-US" dirty="0" smtClean="0"/>
              <a:t>     IF value &gt; threshold THEN</a:t>
            </a:r>
          </a:p>
          <a:p>
            <a:pPr>
              <a:buNone/>
            </a:pPr>
            <a:r>
              <a:rPr lang="en-US" dirty="0" smtClean="0"/>
              <a:t>        Mark as outlier</a:t>
            </a:r>
          </a:p>
          <a:p>
            <a:pPr>
              <a:buNone/>
            </a:pPr>
            <a:r>
              <a:rPr lang="en-US" dirty="0" smtClean="0"/>
              <a:t>     ENDIF</a:t>
            </a:r>
          </a:p>
          <a:p>
            <a:pPr>
              <a:buNone/>
            </a:pPr>
            <a:r>
              <a:rPr lang="en-US" dirty="0" smtClean="0"/>
              <a:t> ENDFOR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40930"/>
          </a:xfrm>
        </p:spPr>
        <p:txBody>
          <a:bodyPr/>
          <a:lstStyle/>
          <a:p>
            <a:r>
              <a:t>Scatter Plot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15568"/>
            <a:ext cx="8229600" cy="5010595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Definition: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A type of plot that uses Cartesian coordinates to display values of two variables for a set of data.</a:t>
            </a:r>
          </a:p>
          <a:p>
            <a:r>
              <a:rPr lang="en-US" b="1" dirty="0" smtClean="0"/>
              <a:t>Use: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Identify correlations, clusters, and outliers.</a:t>
            </a:r>
          </a:p>
          <a:p>
            <a:r>
              <a:rPr lang="en-US" b="1" dirty="0" smtClean="0"/>
              <a:t>Components: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X-axis and Y-axis: represent two quantitative variables.</a:t>
            </a:r>
          </a:p>
          <a:p>
            <a:pPr>
              <a:buNone/>
            </a:pPr>
            <a:r>
              <a:rPr lang="en-US" dirty="0" smtClean="0"/>
              <a:t>* Dots: represent observations.</a:t>
            </a:r>
          </a:p>
          <a:p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65760"/>
            <a:ext cx="8229600" cy="5760403"/>
          </a:xfrm>
        </p:spPr>
        <p:txBody>
          <a:bodyPr>
            <a:normAutofit fontScale="92500"/>
          </a:bodyPr>
          <a:lstStyle/>
          <a:p>
            <a:r>
              <a:rPr lang="en-US" b="1" dirty="0" smtClean="0"/>
              <a:t>Example:</a:t>
            </a:r>
          </a:p>
          <a:p>
            <a:endParaRPr lang="en-US" b="1" dirty="0" smtClean="0"/>
          </a:p>
          <a:p>
            <a:endParaRPr lang="en-US" b="1" dirty="0" smtClean="0"/>
          </a:p>
          <a:p>
            <a:endParaRPr lang="en-US" b="1" dirty="0" smtClean="0"/>
          </a:p>
          <a:p>
            <a:r>
              <a:rPr lang="en-US" b="1" dirty="0" smtClean="0"/>
              <a:t>Advantages</a:t>
            </a:r>
            <a:r>
              <a:rPr lang="en-US" b="1" dirty="0" smtClean="0"/>
              <a:t>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Easy to </a:t>
            </a:r>
            <a:r>
              <a:rPr lang="en-US" dirty="0" smtClean="0"/>
              <a:t>interpret.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Shows trends and relationships </a:t>
            </a:r>
            <a:r>
              <a:rPr lang="en-US" dirty="0" smtClean="0"/>
              <a:t>visually.</a:t>
            </a:r>
            <a:endParaRPr lang="en-US" dirty="0" smtClean="0"/>
          </a:p>
          <a:p>
            <a:r>
              <a:rPr lang="en-US" b="1" dirty="0" smtClean="0"/>
              <a:t>Limitations: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Less effective for large datasets (over plotting</a:t>
            </a:r>
            <a:r>
              <a:rPr lang="en-US" dirty="0" smtClean="0"/>
              <a:t>).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* Cannot show more than 2–3 variables </a:t>
            </a:r>
            <a:r>
              <a:rPr lang="en-US" dirty="0" smtClean="0"/>
              <a:t>effectively.</a:t>
            </a:r>
            <a:endParaRPr lang="en-US" dirty="0" smtClean="0"/>
          </a:p>
          <a:p>
            <a:endParaRPr lang="en-US" dirty="0"/>
          </a:p>
        </p:txBody>
      </p:sp>
      <p:pic>
        <p:nvPicPr>
          <p:cNvPr id="4" name="Picture 3" descr="scatterplot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26854" y="475488"/>
            <a:ext cx="4333875" cy="229552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Types of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a. </a:t>
            </a:r>
            <a:r>
              <a:rPr b="1" smtClean="0"/>
              <a:t>Categorical:</a:t>
            </a:r>
            <a:endParaRPr lang="en-US" b="1" dirty="0" smtClean="0"/>
          </a:p>
          <a:p>
            <a:r>
              <a:rPr lang="en-US" dirty="0" smtClean="0"/>
              <a:t> Nominal: No inherent order (e.g., gender, country)</a:t>
            </a:r>
          </a:p>
          <a:p>
            <a:pPr>
              <a:buFont typeface="Arial" charset="0"/>
              <a:buChar char="•"/>
            </a:pPr>
            <a:r>
              <a:rPr lang="en-US" dirty="0" smtClean="0"/>
              <a:t>Ordinal: Ordered categories (e.g., rankings)</a:t>
            </a:r>
          </a:p>
          <a:p>
            <a:pPr>
              <a:buNone/>
            </a:pPr>
            <a:r>
              <a:rPr lang="en-US" b="1" dirty="0" smtClean="0"/>
              <a:t>b. Numerical Data</a:t>
            </a:r>
            <a:endParaRPr lang="en-US" dirty="0" smtClean="0"/>
          </a:p>
          <a:p>
            <a:r>
              <a:rPr lang="en-US" dirty="0" smtClean="0"/>
              <a:t>Discrete: Countable (e.g., number of students)</a:t>
            </a:r>
          </a:p>
          <a:p>
            <a:r>
              <a:rPr lang="en-US" dirty="0" smtClean="0"/>
              <a:t>Continuous: Measurable (e.g., temperature, height)</a:t>
            </a:r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endParaRPr lang="en-US" dirty="0" smtClean="0"/>
          </a:p>
          <a:p>
            <a:pPr>
              <a:buFont typeface="Arial" charset="0"/>
              <a:buChar char="•"/>
            </a:pP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1208" y="1691641"/>
            <a:ext cx="8430768" cy="4059936"/>
          </a:xfrm>
        </p:spPr>
        <p:txBody>
          <a:bodyPr/>
          <a:lstStyle/>
          <a:p>
            <a:pPr>
              <a:buNone/>
            </a:pPr>
            <a:r>
              <a:rPr lang="en-US" b="1" dirty="0" smtClean="0"/>
              <a:t>c. Temporal Data</a:t>
            </a:r>
            <a:endParaRPr lang="en-US" dirty="0" smtClean="0"/>
          </a:p>
          <a:p>
            <a:r>
              <a:rPr lang="en-US" dirty="0" smtClean="0"/>
              <a:t> Data involving time (e.g., stock prices over time)</a:t>
            </a:r>
          </a:p>
          <a:p>
            <a:pPr>
              <a:buNone/>
            </a:pPr>
            <a:r>
              <a:rPr lang="en-US" b="1" dirty="0" smtClean="0"/>
              <a:t>d. Spatial Data</a:t>
            </a:r>
            <a:endParaRPr lang="en-US" dirty="0" smtClean="0"/>
          </a:p>
          <a:p>
            <a:r>
              <a:rPr lang="en-US" dirty="0" smtClean="0"/>
              <a:t> Data representing locations (e.g., maps, GPS data)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Structure Within &amp; Between Records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7638"/>
            <a:ext cx="8229600" cy="4708525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 smtClean="0"/>
              <a:t>a. Within Records</a:t>
            </a:r>
            <a:endParaRPr lang="en-US" dirty="0" smtClean="0"/>
          </a:p>
          <a:p>
            <a:r>
              <a:rPr lang="en-US" dirty="0" smtClean="0"/>
              <a:t>Refers to relationships among attributes of a single record.</a:t>
            </a:r>
          </a:p>
          <a:p>
            <a:r>
              <a:rPr lang="en-US" dirty="0" smtClean="0"/>
              <a:t>Example: A patient’s record with age, weight, and diagnosis.</a:t>
            </a:r>
          </a:p>
          <a:p>
            <a:pPr>
              <a:buNone/>
            </a:pPr>
            <a:r>
              <a:rPr lang="en-US" b="1" dirty="0" smtClean="0"/>
              <a:t>b. Between Records</a:t>
            </a:r>
            <a:endParaRPr lang="en-US" dirty="0" smtClean="0"/>
          </a:p>
          <a:p>
            <a:r>
              <a:rPr lang="en-US" dirty="0" smtClean="0"/>
              <a:t>Refers to relationships across multiple records.</a:t>
            </a:r>
          </a:p>
          <a:p>
            <a:r>
              <a:rPr lang="en-US" dirty="0" smtClean="0"/>
              <a:t>Example: Sales data showing trends over different regions.</a:t>
            </a:r>
          </a:p>
          <a:p>
            <a:endParaRPr lang="en-US" dirty="0" smtClean="0"/>
          </a:p>
          <a:p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39178"/>
          </a:xfrm>
        </p:spPr>
        <p:txBody>
          <a:bodyPr>
            <a:normAutofit fontScale="90000"/>
          </a:bodyPr>
          <a:lstStyle/>
          <a:p>
            <a:r>
              <a:rPr lang="en-US" b="1" dirty="0" smtClean="0"/>
              <a:t>Record Format Examples: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93776"/>
            <a:ext cx="8229600" cy="5632387"/>
          </a:xfrm>
        </p:spPr>
        <p:txBody>
          <a:bodyPr>
            <a:normAutofit fontScale="85000" lnSpcReduction="20000"/>
          </a:bodyPr>
          <a:lstStyle/>
          <a:p>
            <a:r>
              <a:rPr lang="en-US" sz="3000" b="1" dirty="0" smtClean="0"/>
              <a:t>Flat </a:t>
            </a:r>
            <a:r>
              <a:rPr lang="en-US" sz="3000" b="1" dirty="0" smtClean="0"/>
              <a:t>Files </a:t>
            </a:r>
            <a:r>
              <a:rPr lang="en-US" sz="3000" dirty="0" smtClean="0"/>
              <a:t>(</a:t>
            </a:r>
            <a:r>
              <a:rPr lang="en-US" sz="3000" dirty="0" smtClean="0"/>
              <a:t>CSV :</a:t>
            </a:r>
            <a:r>
              <a:rPr lang="en-US" sz="3000" dirty="0" smtClean="0"/>
              <a:t>Comma-Separated </a:t>
            </a:r>
            <a:r>
              <a:rPr lang="en-US" sz="3000" dirty="0" smtClean="0"/>
              <a:t>Values</a:t>
            </a:r>
            <a:r>
              <a:rPr lang="en-US" sz="3000" dirty="0" smtClean="0"/>
              <a:t>, TSV: </a:t>
            </a:r>
            <a:r>
              <a:rPr lang="en-US" sz="3000" dirty="0" smtClean="0"/>
              <a:t>Tab-Separated Values</a:t>
            </a:r>
            <a:r>
              <a:rPr lang="en-US" sz="3000" dirty="0" smtClean="0"/>
              <a:t>)</a:t>
            </a:r>
            <a:endParaRPr lang="en-US" sz="3000" dirty="0" smtClean="0"/>
          </a:p>
          <a:p>
            <a:r>
              <a:rPr lang="en-US" sz="3000" b="1" dirty="0" smtClean="0"/>
              <a:t>Relational </a:t>
            </a:r>
            <a:r>
              <a:rPr lang="en-US" sz="3000" b="1" dirty="0" smtClean="0"/>
              <a:t>Databases</a:t>
            </a:r>
            <a:r>
              <a:rPr lang="en-US" sz="3000" b="1" dirty="0" smtClean="0"/>
              <a:t>: </a:t>
            </a:r>
            <a:r>
              <a:rPr lang="en-US" sz="2800" dirty="0" err="1" smtClean="0"/>
              <a:t>MySQL</a:t>
            </a:r>
            <a:r>
              <a:rPr lang="en-US" sz="2800" dirty="0" smtClean="0"/>
              <a:t>, </a:t>
            </a:r>
            <a:r>
              <a:rPr lang="en-US" sz="2800" dirty="0" err="1" smtClean="0"/>
              <a:t>PostgreSQL</a:t>
            </a:r>
            <a:r>
              <a:rPr lang="en-US" sz="2800" dirty="0" smtClean="0"/>
              <a:t>, Oracle Database, Microsoft SQL Server, </a:t>
            </a:r>
            <a:r>
              <a:rPr lang="en-US" sz="2800" dirty="0" err="1" smtClean="0"/>
              <a:t>SQLite</a:t>
            </a:r>
            <a:r>
              <a:rPr lang="en-US" sz="2800" dirty="0" smtClean="0"/>
              <a:t>, IBM Db2, </a:t>
            </a:r>
            <a:r>
              <a:rPr lang="en-US" sz="2800" dirty="0" err="1" smtClean="0"/>
              <a:t>MariaDB</a:t>
            </a:r>
            <a:r>
              <a:rPr lang="en-US" sz="2800" dirty="0" smtClean="0"/>
              <a:t>, Amazon Aurora, Google Cloud SQL, SAP HANA, </a:t>
            </a:r>
            <a:r>
              <a:rPr lang="en-US" sz="2800" dirty="0" err="1" smtClean="0"/>
              <a:t>Teradata</a:t>
            </a:r>
            <a:r>
              <a:rPr lang="en-US" sz="2800" dirty="0" smtClean="0"/>
              <a:t>, Firebird, Informix, Amazon RDS, </a:t>
            </a:r>
            <a:r>
              <a:rPr lang="en-US" sz="2800" dirty="0" err="1" smtClean="0"/>
              <a:t>CockroachDB</a:t>
            </a:r>
            <a:endParaRPr lang="en-US" sz="3000" dirty="0" smtClean="0"/>
          </a:p>
          <a:p>
            <a:r>
              <a:rPr lang="en-US" sz="3000" b="1" dirty="0" smtClean="0"/>
              <a:t>JSON</a:t>
            </a:r>
            <a:r>
              <a:rPr lang="en-US" sz="3000" dirty="0" smtClean="0"/>
              <a:t>(JavaScript </a:t>
            </a:r>
            <a:r>
              <a:rPr lang="en-US" sz="3000" dirty="0" smtClean="0"/>
              <a:t>Object Notation)/</a:t>
            </a:r>
            <a:r>
              <a:rPr lang="en-US" sz="3000" b="1" dirty="0" smtClean="0"/>
              <a:t>XML</a:t>
            </a:r>
            <a:r>
              <a:rPr lang="en-US" sz="3000" dirty="0" smtClean="0"/>
              <a:t> (</a:t>
            </a:r>
            <a:r>
              <a:rPr lang="en-US" sz="3000" dirty="0" err="1" smtClean="0"/>
              <a:t>eXtensible</a:t>
            </a:r>
            <a:r>
              <a:rPr lang="en-US" sz="3000" dirty="0" smtClean="0"/>
              <a:t> </a:t>
            </a:r>
            <a:r>
              <a:rPr lang="en-US" sz="3000" dirty="0" smtClean="0"/>
              <a:t>Markup </a:t>
            </a:r>
            <a:r>
              <a:rPr lang="en-US" sz="3000" dirty="0" smtClean="0"/>
              <a:t>Language)</a:t>
            </a:r>
            <a:endParaRPr lang="en-US" sz="3000" dirty="0" smtClean="0"/>
          </a:p>
          <a:p>
            <a:pPr algn="just">
              <a:buNone/>
            </a:pPr>
            <a:r>
              <a:rPr lang="en-US" sz="2200" dirty="0" smtClean="0"/>
              <a:t>JSON </a:t>
            </a:r>
            <a:r>
              <a:rPr lang="en-US" sz="2200" dirty="0" smtClean="0"/>
              <a:t>is </a:t>
            </a:r>
            <a:r>
              <a:rPr lang="en-US" sz="2200" dirty="0" smtClean="0"/>
              <a:t>a lightweight, human-readable data format used for storing and exchanging structured data. It’s widely used in web applications, APIs, data storage, and data visualization tasks</a:t>
            </a:r>
            <a:r>
              <a:rPr lang="en-US" sz="2200" dirty="0" smtClean="0"/>
              <a:t>.</a:t>
            </a:r>
          </a:p>
          <a:p>
            <a:pPr algn="just">
              <a:buNone/>
            </a:pPr>
            <a:r>
              <a:rPr lang="en-US" sz="2200" b="1" dirty="0" smtClean="0"/>
              <a:t>Example of JSON:</a:t>
            </a:r>
          </a:p>
          <a:p>
            <a:pPr algn="just">
              <a:buNone/>
            </a:pPr>
            <a:r>
              <a:rPr lang="en-US" sz="2200" dirty="0" smtClean="0"/>
              <a:t>{</a:t>
            </a:r>
          </a:p>
          <a:p>
            <a:pPr algn="just">
              <a:buNone/>
            </a:pPr>
            <a:r>
              <a:rPr lang="en-US" sz="2200" dirty="0" smtClean="0"/>
              <a:t>  "name": "</a:t>
            </a:r>
            <a:r>
              <a:rPr lang="en-US" sz="2200" dirty="0" err="1" smtClean="0"/>
              <a:t>Arun</a:t>
            </a:r>
            <a:r>
              <a:rPr lang="en-US" sz="2200" dirty="0" smtClean="0"/>
              <a:t>",</a:t>
            </a:r>
            <a:endParaRPr lang="en-US" sz="2200" dirty="0" smtClean="0"/>
          </a:p>
          <a:p>
            <a:pPr algn="just">
              <a:buNone/>
            </a:pPr>
            <a:r>
              <a:rPr lang="en-US" sz="2200" dirty="0" smtClean="0"/>
              <a:t>  "age": </a:t>
            </a:r>
            <a:r>
              <a:rPr lang="en-US" sz="2200" dirty="0" smtClean="0"/>
              <a:t>20,</a:t>
            </a:r>
            <a:endParaRPr lang="en-US" sz="2200" dirty="0" smtClean="0"/>
          </a:p>
          <a:p>
            <a:pPr algn="just">
              <a:buNone/>
            </a:pPr>
            <a:r>
              <a:rPr lang="en-US" sz="2200" dirty="0" smtClean="0"/>
              <a:t>  "city": "Hyderabad",</a:t>
            </a:r>
          </a:p>
          <a:p>
            <a:pPr algn="just">
              <a:buNone/>
            </a:pPr>
            <a:r>
              <a:rPr lang="en-US" sz="2200" dirty="0" smtClean="0"/>
              <a:t>  "skills": ["Python", "Data Visualization", "ML"]</a:t>
            </a:r>
          </a:p>
          <a:p>
            <a:pPr algn="just">
              <a:buNone/>
            </a:pPr>
            <a:r>
              <a:rPr lang="en-US" sz="2200" dirty="0" smtClean="0"/>
              <a:t>}</a:t>
            </a:r>
          </a:p>
          <a:p>
            <a:pPr algn="just"/>
            <a:endParaRPr lang="en-US" sz="2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28016"/>
            <a:ext cx="8229600" cy="630936"/>
          </a:xfrm>
        </p:spPr>
        <p:txBody>
          <a:bodyPr>
            <a:normAutofit fontScale="90000"/>
          </a:bodyPr>
          <a:lstStyle/>
          <a:p>
            <a:r>
              <a:t>Data Preprocessing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58952"/>
            <a:ext cx="8229600" cy="5806440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dirty="0" smtClean="0"/>
              <a:t>Steps:</a:t>
            </a:r>
            <a:endParaRPr lang="en-US" dirty="0" smtClean="0"/>
          </a:p>
          <a:p>
            <a:pPr>
              <a:buNone/>
            </a:pPr>
            <a:r>
              <a:rPr lang="en-US" dirty="0" smtClean="0"/>
              <a:t>1. </a:t>
            </a:r>
            <a:r>
              <a:rPr lang="en-US" b="1" dirty="0" smtClean="0"/>
              <a:t>Data Cleaning</a:t>
            </a:r>
          </a:p>
          <a:p>
            <a:r>
              <a:rPr lang="en-US" dirty="0" smtClean="0"/>
              <a:t>Remove noise, handle missing values, correct inconsistencies.</a:t>
            </a:r>
          </a:p>
          <a:p>
            <a:pPr>
              <a:buNone/>
            </a:pPr>
            <a:r>
              <a:rPr lang="en-US" dirty="0" smtClean="0"/>
              <a:t>2.</a:t>
            </a:r>
            <a:r>
              <a:rPr lang="en-US" b="1" dirty="0" smtClean="0"/>
              <a:t> Data Integration</a:t>
            </a:r>
          </a:p>
          <a:p>
            <a:r>
              <a:rPr lang="en-US" dirty="0" smtClean="0"/>
              <a:t>Combine data from multiple sources.</a:t>
            </a:r>
          </a:p>
          <a:p>
            <a:pPr>
              <a:buNone/>
            </a:pPr>
            <a:r>
              <a:rPr lang="en-US" dirty="0" smtClean="0"/>
              <a:t>3. </a:t>
            </a:r>
            <a:r>
              <a:rPr lang="en-US" b="1" dirty="0" smtClean="0"/>
              <a:t>Data Transformation</a:t>
            </a:r>
          </a:p>
          <a:p>
            <a:r>
              <a:rPr lang="en-US" dirty="0" smtClean="0"/>
              <a:t>Normalize, scale, and convert formats.</a:t>
            </a:r>
          </a:p>
          <a:p>
            <a:pPr>
              <a:buNone/>
            </a:pPr>
            <a:r>
              <a:rPr lang="en-US" dirty="0" smtClean="0"/>
              <a:t>4. </a:t>
            </a:r>
            <a:r>
              <a:rPr lang="en-US" b="1" dirty="0" smtClean="0"/>
              <a:t>Data Reduction</a:t>
            </a:r>
          </a:p>
          <a:p>
            <a:r>
              <a:rPr lang="en-US" dirty="0" smtClean="0"/>
              <a:t>Dimensionality reduction (e.g., PCA), aggregation.</a:t>
            </a:r>
          </a:p>
          <a:p>
            <a:pPr>
              <a:buNone/>
            </a:pPr>
            <a:r>
              <a:rPr lang="en-US" dirty="0" smtClean="0"/>
              <a:t>5. </a:t>
            </a:r>
            <a:r>
              <a:rPr lang="en-US" b="1" dirty="0" smtClean="0"/>
              <a:t>Data </a:t>
            </a:r>
            <a:r>
              <a:rPr lang="en-US" b="1" dirty="0" err="1" smtClean="0"/>
              <a:t>Discretization</a:t>
            </a:r>
            <a:endParaRPr lang="en-US" b="1" dirty="0" smtClean="0"/>
          </a:p>
          <a:p>
            <a:r>
              <a:rPr lang="en-US" dirty="0" smtClean="0"/>
              <a:t>Convert continuous data into discrete buckets.</a:t>
            </a:r>
          </a:p>
          <a:p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None/>
            </a:pPr>
            <a:r>
              <a:rPr lang="en-US" b="1" dirty="0" smtClean="0"/>
              <a:t>Why Important?</a:t>
            </a:r>
            <a:endParaRPr lang="en-US" dirty="0" smtClean="0"/>
          </a:p>
          <a:p>
            <a:r>
              <a:rPr lang="en-US" dirty="0" smtClean="0"/>
              <a:t>Poor-quality data leads to misleading visualizations.</a:t>
            </a:r>
          </a:p>
          <a:p>
            <a:r>
              <a:rPr lang="en-US" dirty="0" smtClean="0"/>
              <a:t>Enhances visualization performance and accuracy.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694944"/>
          </a:xfrm>
        </p:spPr>
        <p:txBody>
          <a:bodyPr>
            <a:normAutofit fontScale="90000"/>
          </a:bodyPr>
          <a:lstStyle/>
          <a:p>
            <a:r>
              <a:t>Data Sets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694944"/>
            <a:ext cx="8229600" cy="5431219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dirty="0" smtClean="0"/>
              <a:t>Definition:</a:t>
            </a:r>
            <a:endParaRPr lang="en-US" dirty="0" smtClean="0"/>
          </a:p>
          <a:p>
            <a:r>
              <a:rPr lang="en-US" dirty="0" smtClean="0"/>
              <a:t> A collection of data records used for analysis and visualization.</a:t>
            </a:r>
          </a:p>
          <a:p>
            <a:pPr>
              <a:buNone/>
            </a:pPr>
            <a:r>
              <a:rPr lang="en-US" b="1" dirty="0" smtClean="0"/>
              <a:t>Common Dataset Examples:</a:t>
            </a:r>
            <a:endParaRPr lang="en-US" dirty="0" smtClean="0"/>
          </a:p>
          <a:p>
            <a:r>
              <a:rPr lang="en-US" dirty="0" smtClean="0"/>
              <a:t>Iris Dataset</a:t>
            </a:r>
          </a:p>
          <a:p>
            <a:r>
              <a:rPr lang="en-US" dirty="0" smtClean="0"/>
              <a:t>Titanic Dataset</a:t>
            </a:r>
          </a:p>
          <a:p>
            <a:r>
              <a:rPr lang="en-US" dirty="0" smtClean="0"/>
              <a:t>Census Data</a:t>
            </a:r>
          </a:p>
          <a:p>
            <a:r>
              <a:rPr lang="en-US" dirty="0" smtClean="0"/>
              <a:t>COVID-19 Case Reports</a:t>
            </a:r>
          </a:p>
          <a:p>
            <a:pPr>
              <a:buNone/>
            </a:pPr>
            <a:r>
              <a:rPr lang="en-US" b="1" dirty="0" smtClean="0"/>
              <a:t>Types of Data Sets:</a:t>
            </a:r>
            <a:endParaRPr lang="en-US" dirty="0" smtClean="0"/>
          </a:p>
          <a:p>
            <a:r>
              <a:rPr lang="en-US" dirty="0" smtClean="0"/>
              <a:t>Structured (tables)</a:t>
            </a:r>
          </a:p>
          <a:p>
            <a:r>
              <a:rPr lang="en-US" dirty="0" smtClean="0"/>
              <a:t>Semi-structured (JSON, XML)</a:t>
            </a:r>
          </a:p>
          <a:p>
            <a:r>
              <a:rPr lang="en-US" dirty="0" smtClean="0"/>
              <a:t>Unstructured (images, audio, video)</a:t>
            </a:r>
          </a:p>
          <a:p>
            <a:pPr>
              <a:buNone/>
            </a:pPr>
            <a:r>
              <a:rPr lang="en-US" b="1" dirty="0" smtClean="0"/>
              <a:t>Choosing a Dataset:</a:t>
            </a:r>
            <a:endParaRPr lang="en-US" dirty="0" smtClean="0"/>
          </a:p>
          <a:p>
            <a:r>
              <a:rPr lang="en-US" dirty="0" smtClean="0"/>
              <a:t>Depends on the objective: classification, trend analysis, etc.</a:t>
            </a:r>
          </a:p>
          <a:p>
            <a:r>
              <a:rPr lang="en-US" dirty="0" smtClean="0"/>
              <a:t>Must be clean, relevant, and well-documented.</a:t>
            </a:r>
          </a:p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969</Words>
  <Application>Microsoft Macintosh PowerPoint</Application>
  <PresentationFormat>On-screen Show (4:3)</PresentationFormat>
  <Paragraphs>134</Paragraphs>
  <Slides>18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19" baseType="lpstr">
      <vt:lpstr>Office Theme</vt:lpstr>
      <vt:lpstr>DATA VISUALIZATION TECHNIQUES </vt:lpstr>
      <vt:lpstr>Slide 2</vt:lpstr>
      <vt:lpstr>What is Data Visualization?</vt:lpstr>
      <vt:lpstr>Importance of Data Visualization </vt:lpstr>
      <vt:lpstr>Relationship between Visualization and Other Fields</vt:lpstr>
      <vt:lpstr>Slide 6</vt:lpstr>
      <vt:lpstr>The Visualization Process</vt:lpstr>
      <vt:lpstr>Pseudo Code Conventions</vt:lpstr>
      <vt:lpstr>Slide 9</vt:lpstr>
      <vt:lpstr>Scatter Plot</vt:lpstr>
      <vt:lpstr>Slide 11</vt:lpstr>
      <vt:lpstr>Types of Data</vt:lpstr>
      <vt:lpstr>Slide 13</vt:lpstr>
      <vt:lpstr>Structure Within &amp; Between Records</vt:lpstr>
      <vt:lpstr>Record Format Examples: </vt:lpstr>
      <vt:lpstr>Data Preprocessing</vt:lpstr>
      <vt:lpstr>Slide 17</vt:lpstr>
      <vt:lpstr>Data Sets</vt:lpstr>
    </vt:vector>
  </TitlesOfParts>
  <Manager/>
  <Company/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VISUALIZATION TECHNIQUES </dc:title>
  <dc:subject/>
  <dc:creator/>
  <cp:keywords/>
  <dc:description>generated using python-pptx</dc:description>
  <cp:lastModifiedBy>SNIST</cp:lastModifiedBy>
  <cp:revision>36</cp:revision>
  <dcterms:created xsi:type="dcterms:W3CDTF">2013-01-27T09:14:16Z</dcterms:created>
  <dcterms:modified xsi:type="dcterms:W3CDTF">2025-07-24T06:23:48Z</dcterms:modified>
  <cp:category/>
</cp:coreProperties>
</file>